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a58934242f47d3" /><Relationship Type="http://schemas.openxmlformats.org/officeDocument/2006/relationships/extended-properties" Target="/docProps/app.xml" Id="Re08aeed7e3594e9a" /><Relationship Type="http://schemas.openxmlformats.org/officeDocument/2006/relationships/officeDocument" Target="/ppt/presentation.xml" Id="R1fa3bed61f234e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18e33c39fe4c96"/>
  </p:sldMasterIdLst>
  <p:notesMasterIdLst>
    <p:notesMasterId xmlns:r="http://schemas.openxmlformats.org/officeDocument/2006/relationships" r:id="Rded477433a84417a"/>
  </p:notesMasterIdLst>
  <p:sldIdLst>
    <p:sldId xmlns:r="http://schemas.openxmlformats.org/officeDocument/2006/relationships" id="256" r:id="Rf00d781be86840c4"/>
    <p:sldId xmlns:r="http://schemas.openxmlformats.org/officeDocument/2006/relationships" id="257" r:id="R8657cca60c684441"/>
    <p:sldId xmlns:r="http://schemas.openxmlformats.org/officeDocument/2006/relationships" id="258" r:id="Ra76a5221d0bc4750"/>
    <p:sldId xmlns:r="http://schemas.openxmlformats.org/officeDocument/2006/relationships" id="259" r:id="R004898e7229740e3"/>
    <p:sldId xmlns:r="http://schemas.openxmlformats.org/officeDocument/2006/relationships" id="260" r:id="R1479e30c39124a68"/>
    <p:sldId xmlns:r="http://schemas.openxmlformats.org/officeDocument/2006/relationships" id="261" r:id="Ra6acba738424435c"/>
    <p:sldId xmlns:r="http://schemas.openxmlformats.org/officeDocument/2006/relationships" id="262" r:id="Rdccb7bb86f4a4398"/>
    <p:sldId xmlns:r="http://schemas.openxmlformats.org/officeDocument/2006/relationships" id="263" r:id="R8e512ce2e8a645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2d461811df4174" /><Relationship Type="http://schemas.openxmlformats.org/officeDocument/2006/relationships/slideMaster" Target="/ppt/slideMasters/slideMaster1.xml" Id="R8818e33c39fe4c96" /><Relationship Type="http://schemas.openxmlformats.org/officeDocument/2006/relationships/notesMaster" Target="/ppt/notesMasters/notesMaster1.xml" Id="Rded477433a84417a" /><Relationship Type="http://schemas.openxmlformats.org/officeDocument/2006/relationships/presProps" Target="/ppt/presProps.xml" Id="R164af0eb21a341ac" /><Relationship Type="http://schemas.openxmlformats.org/officeDocument/2006/relationships/tableStyles" Target="/ppt/tableStyles.xml" Id="R8dcc2d6b90c3425f" /><Relationship Type="http://schemas.openxmlformats.org/officeDocument/2006/relationships/slide" Target="/ppt/slides/slide1.xml" Id="Rf00d781be86840c4" /><Relationship Type="http://schemas.openxmlformats.org/officeDocument/2006/relationships/slide" Target="/ppt/slides/slide2.xml" Id="R8657cca60c684441" /><Relationship Type="http://schemas.openxmlformats.org/officeDocument/2006/relationships/slide" Target="/ppt/slides/slide3.xml" Id="Ra76a5221d0bc4750" /><Relationship Type="http://schemas.openxmlformats.org/officeDocument/2006/relationships/slide" Target="/ppt/slides/slide4.xml" Id="R004898e7229740e3" /><Relationship Type="http://schemas.openxmlformats.org/officeDocument/2006/relationships/slide" Target="/ppt/slides/slide5.xml" Id="R1479e30c39124a68" /><Relationship Type="http://schemas.openxmlformats.org/officeDocument/2006/relationships/slide" Target="/ppt/slides/slide6.xml" Id="Ra6acba738424435c" /><Relationship Type="http://schemas.openxmlformats.org/officeDocument/2006/relationships/slide" Target="/ppt/slides/slide7.xml" Id="Rdccb7bb86f4a4398" /><Relationship Type="http://schemas.openxmlformats.org/officeDocument/2006/relationships/slide" Target="/ppt/slides/slide8.xml" Id="R8e512ce2e8a645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951cd2ef484f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6a7767c7df4a24" /><Relationship Type="http://schemas.openxmlformats.org/officeDocument/2006/relationships/notesMaster" Target="/ppt/notesMasters/notesMaster1.xml" Id="Rf22f3a7c57914c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d6a1f59d114058" /><Relationship Type="http://schemas.openxmlformats.org/officeDocument/2006/relationships/notesMaster" Target="/ppt/notesMasters/notesMaster1.xml" Id="Rd66dd5806e5546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c484fb4ed14c4c" /><Relationship Type="http://schemas.openxmlformats.org/officeDocument/2006/relationships/notesMaster" Target="/ppt/notesMasters/notesMaster1.xml" Id="Rb7bb5e919a8c42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5a608f6ba94ba5" /><Relationship Type="http://schemas.openxmlformats.org/officeDocument/2006/relationships/notesMaster" Target="/ppt/notesMasters/notesMaster1.xml" Id="R582cd03b304246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525afd1b7b4a47" /><Relationship Type="http://schemas.openxmlformats.org/officeDocument/2006/relationships/notesMaster" Target="/ppt/notesMasters/notesMaster1.xml" Id="Rd228ab71192649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0a66ce54d44431" /><Relationship Type="http://schemas.openxmlformats.org/officeDocument/2006/relationships/notesMaster" Target="/ppt/notesMasters/notesMaster1.xml" Id="Rddf967e59a9943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457297d0754344" /><Relationship Type="http://schemas.openxmlformats.org/officeDocument/2006/relationships/notesMaster" Target="/ppt/notesMasters/notesMaster1.xml" Id="R855d379d6c9f48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6b2a87c0fa4a60" /><Relationship Type="http://schemas.openxmlformats.org/officeDocument/2006/relationships/notesMaster" Target="/ppt/notesMasters/notesMaster1.xml" Id="Rde2f06b017f74e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00:00–00:25 · 25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Qorgau помогает преподавателю контролировать компьютерную аудиторию и разбирать события с видеоконтекстом. Студент устанавливает обычное приложение, без адреса сервера и кода подключения. Анализ камеры работает на его ПК. Преподаватель получает событие и принимает решение. Показываем версию 0.4.5 с дообученным детектором телефона и автоматическим контролем взгляда.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README.md; docs/TZ_Qorgau_v3.md; model-manifest.json.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00:25–01:00 · 35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аудитории уже есть компьютеры и система тестирования. Переносить задания не требуется. Преподаватель не вводит один код на пятидесяти машинах: приложение знает адрес нашего сервера и само регистрирует устройство. Каждый ПК получает отдельный отзывной токен. В кабинете видны только работающие агенты со свежим сигналом связи. Пятьдесят рабочих мест остаются целевым сценарием: программную нагрузку мы проверяли, но полевого пилота на пятидесяти камерах ещё не было.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backend/proctor/registration.py; docs/VERIFICATION.md; docs/PILOT.md.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01:00–01:35 · 35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Студент открывает Qorgau, выбирает уже открытое окно теста и камеру, затем нажимает «Готово», глядя на экран. Проходить восемь точек не нужно. Первый пригодный кадр задаёт исходное положение для текущего включения камеры. Преподаватель выбирает подключённые ПК и начинает сеанс. Перед стартом проверяются свежий кадр, одно лицо, отсутствие телефона и свободное место. При перестановке камеры её нужно включить заново. Это условие автоматической нормализации, а не обещание распознавания без исходной позы.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agent/desktop.py; agent/camera_setup.py; shared/gaze_v2.py.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01:35–02:20 · 45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Три отдельных отвлечения по пять секунд в одном направлении приостанавливают доступ. Между эпизодами нужно вернуться к экрану минимум на секунду. Телефон подтверждается двумя кадрами с уверенностью от 0,65 за 0,6 секунды. Второе лицо отправляется на разбор. Отсутствие лица дольше десяти секунд вызывает техническую блокировку. Преподаватель видит причину и клип, может отклонить событие и отдельно разрешить продолжение. Система отмечает сигналы, но не устанавливает факт списывания. Защита Python через WinAPI ограничивает выбранное окно и ввод; Ctrl+Alt+Del и действия администратора остаются вне её контроля.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shared/rules.py; agent/windows_guard.py; docs/SECURITY.md.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02:20–02:55 · 35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Телефон обнаруживает дообученный YOLO11n, лица — готовый YOLOv8n. MediaPipe Face Mesh даёт признаки глаз и головы для обученного классификатора направлений. Все четыре файла моделей включены в EXE и работают на CPU. Мощная видеокарта нужна для обучения, а не на каждом рабочем месте. Запись идёт без звука. Сервер получает события и короткие клипы, хранит решения преподавателя и удаляет видео по сроку хранения; резервные копии ротируются отдельно. Внешнего API распознавания нет. Защита использует прямой WinAPI, а не перечисленные в кейсе pyautogui/keyboard.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model-manifest.json; docs/MODEL_CARD_2026_10_06.md; docs/SERVER.md.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02:55–03:40 · 45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Телефон проверен на 108 фото второго участника, исключённого из обучения и выбора checkpoint: найден на 67 из 78 положительных фото; ложных обнаружений на отрицательных — 2 из 30. Это результат реального CPU ONNX при пороге 0,65, не качество события во времени. Для взгляда balanced accuracy на отложенных кадрах разработки — 94,66 процента. Эти видео уже наблюдались при разработке; проверка с исключением целого участника даёт 91,93 и 77,33 процента. YOLO лиц нашёл второго человека в 150 из 171 кадра. Два участника не подтверждают переносимость на всю аудиторию.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training/reports/phone-export-v2.json; training/reports/gaze-v2.json; training/reports/second-face-v2.json; docs/MODEL_CARD_2026_10_06.md.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03:40–04:25 · 45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проверки жюри предусмотрен один Windows 11 Pro компьютер с камерой. После старта управление преподавателя вызывается через Ctrl+Alt+Q; пароль кабинета позволяет продолжить или завершить сеанс. Проверяем полный путь от события и записи до решения и возврата в тест. Программные тесты, проверка упаковки и установка EXE отделены от физической проверки камеры. Перед внедрением нужны новые люди, длинное обычное чтение по всему экрану, разные камеры, очки и свет. На текущих данных видны ошибки при моргании и чтении у края. Нужны также проверка обходов Windows, замеры ресурсов и пилот с преподавателем.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docs/RELEASE_CHECKLIST.md; docs/WINDOWS_ACCEPTANCE.md; docs/VERIFICATION.md; docs/MODEL_CARD_2026_10_06.md.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04:25–05:00 · 35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Практический эффект нужно измерить в пилоте. Здесь только прозрачный пример: если ввод кода занимает двадцать секунд на ПК, а раздача общей ссылки — минуту, для пятидесяти машин получается около шестнадцати минут экономии. Это предположения, а не результаты наблюдения. Установка и проверка камеры считаются отдельно. Дополнительно сравним время разбора обычного экзамена и событий Qorgau, включая ложные тревоги. Следующий шаг — один кабинет с измерением ошибок, нагрузки и времени преподавателя.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docs/PILOT.md; исходные числа являются обозначенными предположениями.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9cca238b0347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12e5063b804c47" /><Relationship Type="http://schemas.openxmlformats.org/officeDocument/2006/relationships/slideLayout" Target="/ppt/slideLayouts/slideLayout1.xml" Id="R90255c27e5354a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255c27e5354a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c8df2a78f4ecd" /><Relationship Type="http://schemas.openxmlformats.org/officeDocument/2006/relationships/notesSlide" Target="/ppt/notesSlides/notesSlide1.xml" Id="R04a5172d63564b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7e94417b724118" /><Relationship Type="http://schemas.openxmlformats.org/officeDocument/2006/relationships/notesSlide" Target="/ppt/notesSlides/notesSlide2.xml" Id="R0ecd4fd3585748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818a53bff4d8b" /><Relationship Type="http://schemas.openxmlformats.org/officeDocument/2006/relationships/notesSlide" Target="/ppt/notesSlides/notesSlide3.xml" Id="R766b0d990ed644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cff408cda4983" /><Relationship Type="http://schemas.openxmlformats.org/officeDocument/2006/relationships/notesSlide" Target="/ppt/notesSlides/notesSlide4.xml" Id="R3465307555474b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80fabf2144969" /><Relationship Type="http://schemas.openxmlformats.org/officeDocument/2006/relationships/notesSlide" Target="/ppt/notesSlides/notesSlide5.xml" Id="R5727d98f21ed43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a162511c84110" /><Relationship Type="http://schemas.openxmlformats.org/officeDocument/2006/relationships/notesSlide" Target="/ppt/notesSlides/notesSlide6.xml" Id="Rc1ba8db081834a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9ec384a454893" /><Relationship Type="http://schemas.openxmlformats.org/officeDocument/2006/relationships/notesSlide" Target="/ppt/notesSlides/notesSlide7.xml" Id="R3a19e69516a749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f6a97b01f4cbc" /><Relationship Type="http://schemas.openxmlformats.org/officeDocument/2006/relationships/notesSlide" Target="/ppt/notesSlides/notesSlide8.xml" Id="R19839dc6ee7d48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A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80D78-A533-47C5-9B47-60F0DDEA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7CAE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7CAE7"/>
                </a:solidFill>
                <a:latin typeface="Arial"/>
                <a:ea typeface="Arial"/>
                <a:cs typeface="Arial"/>
              </a:rPr>
              <a:t>QORGAU   /   0.4.5   /   07.10.2026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8BB6F-4AC6-4F22-94A0-76BBA2FF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7CAE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AE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72D55-0741-4A4D-B90F-04A4CC48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Qorgau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B6894-73CD-4626-B479-CE532E7C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0">
                <a:solidFill>
                  <a:srgbClr val="DDE8F9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DDE8F9"/>
                </a:solidFill>
                <a:latin typeface="Arial"/>
                <a:ea typeface="Arial"/>
                <a:cs typeface="Arial"/>
              </a:rPr>
              <a:t>Локальный прокторинг</a:t>
            </a:r>
          </a:p>
          <a:p xmlns:a="http://schemas.openxmlformats.org/drawingml/2006/main">
            <a:pPr>
              <a:buNone/>
              <a:defRPr sz="3450" b="0">
                <a:solidFill>
                  <a:srgbClr val="DDE8F9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DDE8F9"/>
                </a:solidFill>
                <a:latin typeface="Arial"/>
                <a:ea typeface="Arial"/>
                <a:cs typeface="Arial"/>
              </a:rPr>
              <a:t>для компьютерной аудитории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FA5EF7-F676-405C-89EA-413EED25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8EDAC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8EDAC7"/>
                </a:solidFill>
                <a:latin typeface="Arial"/>
                <a:ea typeface="Arial"/>
                <a:cs typeface="Arial"/>
              </a:rPr>
              <a:t>Готовый EXE · собственный сервер · решение преподавателя</a:t>
            </a:r>
          </a:p>
        </p:txBody>
      </p:sp>
    </p:spTree>
    <p:extLst>
      <p:ext uri="{BB962C8B-B14F-4D97-AF65-F5344CB8AC3E}">
        <p14:creationId xmlns:p14="http://schemas.microsoft.com/office/powerpoint/2010/main" val="8275456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0F60B-84E4-40C0-8CE0-E667CF04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A4B"/>
                </a:solidFill>
                <a:latin typeface="Arial"/>
                <a:ea typeface="Arial"/>
                <a:cs typeface="Arial"/>
              </a:rPr>
              <a:t>Задача аудитории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DEF65-4CB9-48CC-8AAD-4F130E0D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QORGAU   /   0.4.5   /   07.10.2026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7A83F-A0C3-4DE0-B56C-4FDFBE64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E8DE7-AADE-4A10-A79A-6AF7BA57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500" b="1">
                <a:solidFill>
                  <a:srgbClr val="2859B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2859BC"/>
                </a:solidFill>
                <a:latin typeface="Arial"/>
                <a:ea typeface="Arial"/>
                <a:cs typeface="Arial"/>
              </a:rPr>
              <a:t>1 преподаватель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1F925-C47A-4337-AB5D-0CCF7F85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765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до 50 рабочих мест — целевой сценарий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DB613-CFC5-4ECE-A550-05B78AB7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38600"/>
            <a:ext cx="10477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Тест остаётся в привычной системе.</a:t>
            </a:r>
          </a:p>
          <a:p xmlns:a="http://schemas.openxmlformats.org/drawingml/2006/main">
            <a:pPr>
              <a:buNone/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Приложение подключает компьютер автоматически.</a:t>
            </a:r>
          </a:p>
          <a:p xmlns:a="http://schemas.openxmlformats.org/drawingml/2006/main">
            <a:pPr>
              <a:buNone/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Преподаватель видит события с видеоконтекстом.</a:t>
            </a:r>
          </a:p>
        </p:txBody>
      </p:sp>
    </p:spTree>
    <p:extLst>
      <p:ext uri="{BB962C8B-B14F-4D97-AF65-F5344CB8AC3E}">
        <p14:creationId xmlns:p14="http://schemas.microsoft.com/office/powerpoint/2010/main" val="11146733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646914-E5C1-46C9-BBE9-D7CE2822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A4B"/>
                </a:solidFill>
                <a:latin typeface="Arial"/>
                <a:ea typeface="Arial"/>
                <a:cs typeface="Arial"/>
              </a:rPr>
              <a:t>Подключение и начало экзамена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2DDC2-678F-4FB3-904C-0A120879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QORGAU   /   0.4.5   /   07.10.2026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06D2E-ECD1-4C95-B292-1AD58541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4D156-CABE-4A1D-90A3-7BD844C3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800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2859B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859B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B58FD-632C-4BAA-9819-1B9ACEF4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00250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Студент устанавливает и открывает Qorgau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BFF857-4C1F-4321-B6F6-DEC5067C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800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2859B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859B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7C827-FD51-453A-B066-8CE6C465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24175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Работающий компьютер появляется в кабинете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F9054A-8A65-4EA0-842C-1C4E4C21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800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2859B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859B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098A6-45A8-4A30-9FFD-9E2BC5EE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48100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Выбирает окно и камеру, нажимает «Готово»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B835D9-E78B-4999-8E38-FF263753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800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2859B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859B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3C9AC-1DDB-4EB7-98D7-2D69BED1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72025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Преподаватель запускает сеанс для выбранных ПК</a:t>
            </a:r>
          </a:p>
        </p:txBody>
      </p:sp>
    </p:spTree>
    <p:extLst>
      <p:ext uri="{BB962C8B-B14F-4D97-AF65-F5344CB8AC3E}">
        <p14:creationId xmlns:p14="http://schemas.microsoft.com/office/powerpoint/2010/main" val="6784426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B94AC8-E29D-4BE9-9DB0-5A0D49C4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A4B"/>
                </a:solidFill>
                <a:latin typeface="Arial"/>
                <a:ea typeface="Arial"/>
                <a:cs typeface="Arial"/>
              </a:rPr>
              <a:t>Сигналы и решение преподавателя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03C5A-5AA5-4823-9C9E-18720226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QORGAU   /   0.4.5   /   07.10.2026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8096C-0580-4210-97BE-03CC7460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87801-B897-47A5-A33F-57F918B3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2859B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859BC"/>
                </a:solidFill>
                <a:latin typeface="Arial"/>
                <a:ea typeface="Arial"/>
                <a:cs typeface="Arial"/>
              </a:rPr>
              <a:t>5 секунд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A03DE-4742-45AC-8D82-909F61F3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19300"/>
            <a:ext cx="7277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Непрерывное отвлечение. Третий эпизод</a:t>
            </a:r>
          </a:p>
          <a:p xmlns:a="http://schemas.openxmlformats.org/drawingml/2006/main">
            <a:pPr>
              <a:buNone/>
              <a:defRPr sz="217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в одном направлении меняет состояние на LOCKED.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669468-6191-469C-95FF-F03C00D5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2859B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9BC"/>
                </a:solidFill>
                <a:latin typeface="Arial"/>
                <a:ea typeface="Arial"/>
                <a:cs typeface="Arial"/>
              </a:rPr>
              <a:t>Телефон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3B9E0D-E271-4970-9522-00C43FAF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33750"/>
            <a:ext cx="7277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Два уверенных обнаружения за ≤0,6 с.</a:t>
            </a:r>
          </a:p>
          <a:p xmlns:a="http://schemas.openxmlformats.org/drawingml/2006/main">
            <a:pPr>
              <a:buNone/>
              <a:defRPr sz="217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Отдельный критический сигнал.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8B78D-DED6-4119-9358-BD249E17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6796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67967"/>
                </a:solidFill>
                <a:latin typeface="Arial"/>
                <a:ea typeface="Arial"/>
                <a:cs typeface="Arial"/>
              </a:rPr>
              <a:t>Контекст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AE348C-382C-4DA3-A29F-9670D29A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95825"/>
            <a:ext cx="727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Лица и отсутствие — на ручную проверку.</a:t>
            </a:r>
          </a:p>
          <a:p xmlns:a="http://schemas.openxmlformats.org/drawingml/2006/main">
            <a:pPr>
              <a:buNone/>
              <a:defRPr sz="217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Клип, решение и разрешение продолжить.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6BBAC-1E40-48F1-89A5-5FE639F6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Python / WinAPI: ограничение выбранного окна и ввода.</a:t>
            </a:r>
          </a:p>
        </p:txBody>
      </p:sp>
    </p:spTree>
    <p:extLst>
      <p:ext uri="{BB962C8B-B14F-4D97-AF65-F5344CB8AC3E}">
        <p14:creationId xmlns:p14="http://schemas.microsoft.com/office/powerpoint/2010/main" val="7438493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E35F3-B39A-4BD5-9B08-9BD7D717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A4B"/>
                </a:solidFill>
                <a:latin typeface="Arial"/>
                <a:ea typeface="Arial"/>
                <a:cs typeface="Arial"/>
              </a:rPr>
              <a:t>Обработка и хранение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D893A-2115-45B8-B8BD-74AD75C0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QORGAU   /   0.4.5   /   07.10.2026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4966C-1CB0-456A-8DC8-3684CBB2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09497-1126-4947-A565-70D18C02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2859B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859BC"/>
                </a:solidFill>
                <a:latin typeface="Arial"/>
                <a:ea typeface="Arial"/>
                <a:cs typeface="Arial"/>
              </a:rPr>
              <a:t>ПК студента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79094-B649-4F83-B97F-CB455E59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YOLO11n / YOLOv8n + MediaPipe Face Mesh · CPU</a:t>
            </a:r>
          </a:p>
          <a:p xmlns:a="http://schemas.openxmlformats.org/drawingml/2006/main">
            <a:pPr>
              <a:buNone/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Без записи звука; локальная очередь при потере сети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506CD5-0EFC-4F59-80A9-FA51A910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6796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7967"/>
                </a:solidFill>
                <a:latin typeface="Arial"/>
                <a:ea typeface="Arial"/>
                <a:cs typeface="Arial"/>
              </a:rPr>
              <a:t>Собственный сервер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F1C07D-9AEB-42E6-A83B-926E898B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События и клипы по HTTPS · решения и аудит</a:t>
            </a:r>
          </a:p>
          <a:p xmlns:a="http://schemas.openxmlformats.org/drawingml/2006/main">
            <a:pPr>
              <a:buNone/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Видео: 7 дней, с продлением для разбора инцидента</a:t>
            </a:r>
          </a:p>
        </p:txBody>
      </p:sp>
    </p:spTree>
    <p:extLst>
      <p:ext uri="{BB962C8B-B14F-4D97-AF65-F5344CB8AC3E}">
        <p14:creationId xmlns:p14="http://schemas.microsoft.com/office/powerpoint/2010/main" val="2176489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98EAFA-997A-4CDF-BE06-40C13618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A4B"/>
                </a:solidFill>
                <a:latin typeface="Arial"/>
                <a:ea typeface="Arial"/>
                <a:cs typeface="Arial"/>
              </a:rPr>
              <a:t>Проверка моделей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1F48C-E2C2-430C-87BD-22BCC1AF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QORGAU   /   0.4.5   /   07.10.2026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812F0-7283-40A2-A26C-85EDD059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FBCB4-CE7B-4C98-A570-2CF9E8DB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285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2859BC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859BC"/>
                </a:solidFill>
                <a:latin typeface="Arial"/>
                <a:ea typeface="Arial"/>
                <a:cs typeface="Arial"/>
              </a:rPr>
              <a:t>67 / 78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FAB30-522F-421F-B6C5-11E655FC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28825"/>
            <a:ext cx="7591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Телефон найден на фото
отдельного тестового участника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489290-A4DB-43F3-94CC-312C1F6E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285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2859BC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859BC"/>
                </a:solidFill>
                <a:latin typeface="Arial"/>
                <a:ea typeface="Arial"/>
                <a:cs typeface="Arial"/>
              </a:rPr>
              <a:t>94,7%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CB58C-28DF-41FA-96CF-1514FF3C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52775"/>
            <a:ext cx="7591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Взгляд: balanced accuracy
на отложенных видео разработки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58152-AED3-4140-B32B-E52AD76A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285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16796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67967"/>
                </a:solidFill>
                <a:latin typeface="Arial"/>
                <a:ea typeface="Arial"/>
                <a:cs typeface="Arial"/>
              </a:rPr>
              <a:t>150 / 171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45758-4F36-419B-8046-83CA2827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76725"/>
            <a:ext cx="7591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Второе лицо на собственных фото
21 пропуск; 0 лишних на 33 одиночных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4EB62-2A2B-4E6F-9EA7-7B31392F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816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Телефон: 2 ложных из 30 фото без него. Всего два участника.</a:t>
            </a:r>
          </a:p>
          <a:p xmlns:a="http://schemas.openxmlformats.org/drawingml/2006/main">
            <a:pPr>
              <a:buNone/>
              <a:defRPr sz="17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Нужна проверка на новых людях и длинных записях.</a:t>
            </a:r>
          </a:p>
        </p:txBody>
      </p:sp>
    </p:spTree>
    <p:extLst>
      <p:ext uri="{BB962C8B-B14F-4D97-AF65-F5344CB8AC3E}">
        <p14:creationId xmlns:p14="http://schemas.microsoft.com/office/powerpoint/2010/main" val="17602297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E34C6-4656-4159-8078-BB3C48D2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A4B"/>
                </a:solidFill>
                <a:latin typeface="Arial"/>
                <a:ea typeface="Arial"/>
                <a:cs typeface="Arial"/>
              </a:rPr>
              <a:t>Приёмка перед внедрением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76440-8F9C-43D6-B9EF-52AF0709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QORGAU   /   0.4.5   /   07.10.2026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2E7E5-127F-4E29-BD7D-4E0D51C9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F68B1-7565-4D3A-8A3A-B8DD2D38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0820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2859B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859BC"/>
                </a:solidFill>
                <a:latin typeface="Arial"/>
                <a:ea typeface="Arial"/>
                <a:cs typeface="Arial"/>
              </a:rPr>
              <a:t>Один ПК Windows 11 Pro + камера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F39E2-8564-4673-9DE4-22C0CCA5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0987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Окно теста → Ctrl+Alt+Q → пароль преподавателя.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2A727-62B9-4107-A82B-6A8A3E94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6796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7967"/>
                </a:solidFill>
                <a:latin typeface="Arial"/>
                <a:ea typeface="Arial"/>
                <a:cs typeface="Arial"/>
              </a:rPr>
              <a:t>Осталось подтвердить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6126F-C724-433C-9F50-885CB9C6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9625"/>
            <a:ext cx="10477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Попытки обхода Windows и восстановление</a:t>
            </a:r>
          </a:p>
          <a:p xmlns:a="http://schemas.openxmlformats.org/drawingml/2006/main">
            <a:pPr>
              <a:buNone/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Точность на новых людях и ресурсы камеры</a:t>
            </a:r>
          </a:p>
          <a:p xmlns:a="http://schemas.openxmlformats.org/drawingml/2006/main">
            <a:pPr>
              <a:buNone/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Пилот с преподавателем и три повторных прогона</a:t>
            </a:r>
          </a:p>
        </p:txBody>
      </p:sp>
    </p:spTree>
    <p:extLst>
      <p:ext uri="{BB962C8B-B14F-4D97-AF65-F5344CB8AC3E}">
        <p14:creationId xmlns:p14="http://schemas.microsoft.com/office/powerpoint/2010/main" val="15527696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2A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554E5-F7F6-4933-B2D0-FC74075C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Эффект и следующий шаг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EDB0B-19A6-4021-99D1-526CCE04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7CAE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7CAE7"/>
                </a:solidFill>
                <a:latin typeface="Arial"/>
                <a:ea typeface="Arial"/>
                <a:cs typeface="Arial"/>
              </a:rPr>
              <a:t>QORGAU   /   0.4.5   /   07.10.2026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F4F5B-C010-4479-BEFC-9F612015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7CAE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AE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AEB5B-D7B1-4220-A9CC-118862EF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8EDAC7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8EDAC7"/>
                </a:solidFill>
                <a:latin typeface="Arial"/>
                <a:ea typeface="Arial"/>
                <a:cs typeface="Arial"/>
              </a:rPr>
              <a:t>15,7 минуты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EDF41-404A-4D05-B60F-28C1A3E6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Пример экономии на вводе кода для 50 ПК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EB08D-7930-4763-99C1-1C3EF16E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B7CA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7CAE7"/>
                </a:solidFill>
                <a:latin typeface="Arial"/>
                <a:ea typeface="Arial"/>
                <a:cs typeface="Arial"/>
              </a:rPr>
              <a:t>Предположения: 20 с на код, 60 с на раздачу ссылки.</a:t>
            </a:r>
          </a:p>
          <a:p xmlns:a="http://schemas.openxmlformats.org/drawingml/2006/main">
            <a:pPr>
              <a:buNone/>
              <a:defRPr sz="2025" b="0">
                <a:solidFill>
                  <a:srgbClr val="B7CA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7CAE7"/>
                </a:solidFill>
                <a:latin typeface="Arial"/>
                <a:ea typeface="Arial"/>
                <a:cs typeface="Arial"/>
              </a:rPr>
              <a:t>(50 × 20 − 60) / 60 = 15,7 мин. Это гипотеза для пилота.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9BE8F-3054-462A-9069-4B76D110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Следующий шаг: проверка одного кабинета</a:t>
            </a:r>
          </a:p>
          <a:p xmlns:a="http://schemas.openxmlformats.org/drawingml/2006/main">
            <a:pPr>
              <a:buNone/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 измерением ошибок и времени преподавателя.</a:t>
            </a:r>
          </a:p>
        </p:txBody>
      </p:sp>
    </p:spTree>
    <p:extLst>
      <p:ext uri="{BB962C8B-B14F-4D97-AF65-F5344CB8AC3E}">
        <p14:creationId xmlns:p14="http://schemas.microsoft.com/office/powerpoint/2010/main" val="1009995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2026-10-06T20:22:52.7670000Z</dcterms:created>
  <dcterms:modified xsi:type="dcterms:W3CDTF">2026-10-06T20:22:52.7670000Z</dcterms:modified>
</coreProperties>
</file>