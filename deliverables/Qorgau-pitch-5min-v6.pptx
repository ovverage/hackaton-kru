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1cc738e2ba43a7" /><Relationship Type="http://schemas.openxmlformats.org/officeDocument/2006/relationships/extended-properties" Target="/docProps/app.xml" Id="Ra71e7a87c4f2449d" /><Relationship Type="http://schemas.openxmlformats.org/officeDocument/2006/relationships/officeDocument" Target="/ppt/presentation.xml" Id="Rb2f41b7d9bf84b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541d8a275f4d05"/>
  </p:sldMasterIdLst>
  <p:notesMasterIdLst>
    <p:notesMasterId xmlns:r="http://schemas.openxmlformats.org/officeDocument/2006/relationships" r:id="R6d3f9db0236e4b4c"/>
  </p:notesMasterIdLst>
  <p:sldIdLst>
    <p:sldId xmlns:r="http://schemas.openxmlformats.org/officeDocument/2006/relationships" id="256" r:id="R6480c645f1784eae"/>
    <p:sldId xmlns:r="http://schemas.openxmlformats.org/officeDocument/2006/relationships" id="257" r:id="R9031a2ab16d64b52"/>
    <p:sldId xmlns:r="http://schemas.openxmlformats.org/officeDocument/2006/relationships" id="258" r:id="Rac5ffe64a4d44364"/>
    <p:sldId xmlns:r="http://schemas.openxmlformats.org/officeDocument/2006/relationships" id="259" r:id="Rb44e6e3516d247b7"/>
    <p:sldId xmlns:r="http://schemas.openxmlformats.org/officeDocument/2006/relationships" id="260" r:id="R735e32b19646407a"/>
    <p:sldId xmlns:r="http://schemas.openxmlformats.org/officeDocument/2006/relationships" id="261" r:id="Ra7561d37e520448a"/>
    <p:sldId xmlns:r="http://schemas.openxmlformats.org/officeDocument/2006/relationships" id="262" r:id="R90132110de534ffc"/>
    <p:sldId xmlns:r="http://schemas.openxmlformats.org/officeDocument/2006/relationships" id="263" r:id="R99c4a4049b5849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86f57a7a834515" /><Relationship Type="http://schemas.openxmlformats.org/officeDocument/2006/relationships/slideMaster" Target="/ppt/slideMasters/slideMaster1.xml" Id="R23541d8a275f4d05" /><Relationship Type="http://schemas.openxmlformats.org/officeDocument/2006/relationships/notesMaster" Target="/ppt/notesMasters/notesMaster1.xml" Id="R6d3f9db0236e4b4c" /><Relationship Type="http://schemas.openxmlformats.org/officeDocument/2006/relationships/presProps" Target="/ppt/presProps.xml" Id="R28c341d6da0e4c1a" /><Relationship Type="http://schemas.openxmlformats.org/officeDocument/2006/relationships/tableStyles" Target="/ppt/tableStyles.xml" Id="R4f76cb5e786546d3" /><Relationship Type="http://schemas.openxmlformats.org/officeDocument/2006/relationships/slide" Target="/ppt/slides/slide1.xml" Id="R6480c645f1784eae" /><Relationship Type="http://schemas.openxmlformats.org/officeDocument/2006/relationships/slide" Target="/ppt/slides/slide2.xml" Id="R9031a2ab16d64b52" /><Relationship Type="http://schemas.openxmlformats.org/officeDocument/2006/relationships/slide" Target="/ppt/slides/slide3.xml" Id="Rac5ffe64a4d44364" /><Relationship Type="http://schemas.openxmlformats.org/officeDocument/2006/relationships/slide" Target="/ppt/slides/slide4.xml" Id="Rb44e6e3516d247b7" /><Relationship Type="http://schemas.openxmlformats.org/officeDocument/2006/relationships/slide" Target="/ppt/slides/slide5.xml" Id="R735e32b19646407a" /><Relationship Type="http://schemas.openxmlformats.org/officeDocument/2006/relationships/slide" Target="/ppt/slides/slide6.xml" Id="Ra7561d37e520448a" /><Relationship Type="http://schemas.openxmlformats.org/officeDocument/2006/relationships/slide" Target="/ppt/slides/slide7.xml" Id="R90132110de534ffc" /><Relationship Type="http://schemas.openxmlformats.org/officeDocument/2006/relationships/slide" Target="/ppt/slides/slide8.xml" Id="R99c4a4049b5849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d0139b8c764c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e5fce8300e40a8" /><Relationship Type="http://schemas.openxmlformats.org/officeDocument/2006/relationships/notesMaster" Target="/ppt/notesMasters/notesMaster1.xml" Id="R6149a7206b2647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cc06c349354bc4" /><Relationship Type="http://schemas.openxmlformats.org/officeDocument/2006/relationships/notesMaster" Target="/ppt/notesMasters/notesMaster1.xml" Id="Rf721e43e658d43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7b810b7aa644f5" /><Relationship Type="http://schemas.openxmlformats.org/officeDocument/2006/relationships/notesMaster" Target="/ppt/notesMasters/notesMaster1.xml" Id="R2465aa5757ae4e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61ed0ab88a49d0" /><Relationship Type="http://schemas.openxmlformats.org/officeDocument/2006/relationships/notesMaster" Target="/ppt/notesMasters/notesMaster1.xml" Id="R3e8d724e3cdd45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b20d4f225a4d2f" /><Relationship Type="http://schemas.openxmlformats.org/officeDocument/2006/relationships/notesMaster" Target="/ppt/notesMasters/notesMaster1.xml" Id="Rff4824fa0c9a4f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cb2d58b1aa4066" /><Relationship Type="http://schemas.openxmlformats.org/officeDocument/2006/relationships/notesMaster" Target="/ppt/notesMasters/notesMaster1.xml" Id="R7e4f4cbb55f64b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d6a4ea60124d63" /><Relationship Type="http://schemas.openxmlformats.org/officeDocument/2006/relationships/notesMaster" Target="/ppt/notesMasters/notesMaster1.xml" Id="R6882510fa4ea40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f4def53b92463e" /><Relationship Type="http://schemas.openxmlformats.org/officeDocument/2006/relationships/notesMaster" Target="/ppt/notesMasters/notesMaster1.xml" Id="R2c3b4655f4fc4a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00:00–00:25 · 25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Qorgau помогает преподавателю разбирать события экзамена в компьютерной аудитории. Студент открывает подготовленный EXE, анализ работает на его компьютере, а преподаватель получает события и фрагменты контекста. Сегодня мы показываем прототип и отдельно называем то, что уже проверили, и то, что ещё требует испытаний на людях и Windows.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Официальный кейс №3 КРУ и Qostanai Hub, страницы 1–2; docs/TZ_Qorgau_v3.md.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00:25–01:00 · 35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аудитории уже есть компьютеры и система тестирования. Переносить задания ради прокторинга неудобно. Пользователь сформулировал ещё одну конкретную проблему: преподаватель не должен вводить один и тот же код на пятидесяти машинах. Мы сохранили внешний тест и подготовили общий установочный файл аудитории. При этом каждое рабочее место получает собственный токен: общий пакет не означает общий постоянный доступ. Пятьдесят машин — целевой сценарий, а не уже проведённый физический пилот.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Запрос пользователя о 50 ПК; README.md; backend/proctor/packages.py.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01:00–01:35 · 35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кабинете преподаватель выбирает аудиторию, срок и лимит регистраций, затем скачивает пакет. На компьютере студента не нужны Python, ручной ввод адреса или выбор файлов моделей. Остаются реальные действия, которые нельзя обойти честным интерфейсом: разрешение камеры и личная калибровка. Она включает центр и края экрана, чтобы обычное чтение отличалось от взгляда за его пределы. Перед стартом агент проверяет свежий кадр, одно лицо, отсутствие телефона и свободное место.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agent/provision.py; agent/camera_setup.py; agent/client.py; scripts/smoke_student_exe.py.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01:35–02:20 · 45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взгляда используются три независимых счётчика: вниз, влево и вправо. Один непрерывный эпизод от пяти секунд даёт один балл, а третий в том же направлении переводит сеанс в LOCKED. Неуверенное наблюдение прерывает таймер. Телефон обрабатывается отдельно: два обнаружения с уверенностью от 0,65 за 0,6 секунды. Второе лицо и отсутствие лица направляются преподавателю; длительное отсутствие становится технической причиной. Видео не является автоматическим приговором. Преподаватель принимает решение с причиной. Важно: состояние LOCKED уже реализовано, но оно пока не доказывает физическую блокировку Windows.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shared/rules.py, версия правил 3.0; docs/SECURITY.md.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02:20–02:55 · 35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Готовые модели работают локально. Сервер не получает непрерывный поток и не выполняет облачный анализ лица. Агент хранит короткие сегменты на диске и собирает весь интервал события с контекстом до и после. Длинное событие разбивается на соседние клипы; пропуски кадров видны в отчёте. У сервера есть HTTPS по IP, отдельные токены, резервное копирование и политика удаления. Отправленная локальная копия удаляется после подтверждения. Резервные архивы ротируются отдельно.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docs/SERVER.md; docs/SECURITY.md; agent/recording.py; backend/proctor/retention.py; model-manifest.json.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02:55–03:40 · 45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текущем этапе проходят 76 автоматических тестов. Они проверяют правила, права доступа, профиль браузера, очередь записей и восстановление. Полный собранный EXE отдельно загрузил обе модели и создал воспроизводимый H.264-клип. Проверка скачанного пакета зарегистрировала два изолированных профиля на одном физическом компьютере; после перезапуска дубликатов нет. Смешанный тест пятидесяти клиентов за 121,9 секунды дал p95 332 миллисекунды без ошибок. Отправлены пятьдесят синтетических клипов; проверены повтор команд после потери ACK и переподключение WebSocket. Это проверка API, не пятидесяти камер. Длительный прогон идёт отдельно. Эти цифры не заменяют precision и recall на независимых записях людей.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docs/VERIFICATION.md; .local/evidence/mixed-load.json; .local/evidence/cv-queue-fix-selftest.json; pytest 76 passed от 06.10.2026.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03:40–04:25 · 45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жюри согласован один Windows 11 Pro компьютер с камерой. В режиме наблюдения кабинет можно открыть на том же устройстве. Самостоятельный сценарий проверки уже подготовлен. Самый существенный открытый пункт — настоящая защита среды: экспериментальный мост Safe Exam Browser подготовлен, но живой запуск и попытки обхода ещё не приняты. Поэтому сервер не разрешает строгий режим. Второй открытый блок — размеченные записи: без них нельзя честно обещать точность или заявить собственное дообучение. Инструменты replay, обучения и оценки подготовлены, но данные и физические прогоны ещё нужны.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Подтверждение пользователя: один Windows 11 Pro ПК и камера; docs/RELEASE_CHECKLIST.md; docs/CV_EVALUATION.md; docs/SECURITY.md.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04:25–05:00 · 35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Практический эффект сначала нужно измерить. Для подключения можно заранее записать проверяемую формулу. Если ручной ввод кода занимает двадцать секунд, а подготовка пакета — минуту, то на пятидесяти ПК получается около шестнадцати минут. Это пример с предположениями, не обещанная экономия. Скачивание и калибровка учитываются отдельно. Аналогично сравним время ручного разбора с разбором событий через Qorgau, включая ложные тревоги. Мы предлагаем следующий конкретный шаг: пилот одного кабинета с измерением точности, ресурсов и времени преподавателя.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docs/PILOT.md; исходные числа — явно обозначенные предположения, не результаты наблюдений.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396fa9d54b4c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e209fa4cfc49e7" /><Relationship Type="http://schemas.openxmlformats.org/officeDocument/2006/relationships/slideLayout" Target="/ppt/slideLayouts/slideLayout1.xml" Id="R48514f73492e47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514f73492e47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346490194496e" /><Relationship Type="http://schemas.openxmlformats.org/officeDocument/2006/relationships/notesSlide" Target="/ppt/notesSlides/notesSlide1.xml" Id="R27a70ec19f6a4c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0db2babf74c7c" /><Relationship Type="http://schemas.openxmlformats.org/officeDocument/2006/relationships/notesSlide" Target="/ppt/notesSlides/notesSlide2.xml" Id="Re48ccd8491c346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b81caf8f14fda" /><Relationship Type="http://schemas.openxmlformats.org/officeDocument/2006/relationships/notesSlide" Target="/ppt/notesSlides/notesSlide3.xml" Id="R0cfb90a6258741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02fb463354a7c" /><Relationship Type="http://schemas.openxmlformats.org/officeDocument/2006/relationships/notesSlide" Target="/ppt/notesSlides/notesSlide4.xml" Id="R0d956362682040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e5e39084c4882" /><Relationship Type="http://schemas.openxmlformats.org/officeDocument/2006/relationships/notesSlide" Target="/ppt/notesSlides/notesSlide5.xml" Id="R5fb5328c26ab48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324a398144205" /><Relationship Type="http://schemas.openxmlformats.org/officeDocument/2006/relationships/notesSlide" Target="/ppt/notesSlides/notesSlide6.xml" Id="R75406fd2f9754d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f7ebaaf1b4f93" /><Relationship Type="http://schemas.openxmlformats.org/officeDocument/2006/relationships/notesSlide" Target="/ppt/notesSlides/notesSlide7.xml" Id="R1c43bc6f1c244f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663c56f424275" /><Relationship Type="http://schemas.openxmlformats.org/officeDocument/2006/relationships/notesSlide" Target="/ppt/notesSlides/notesSlide8.xml" Id="R0ca185178beb4a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A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80D78-A533-47C5-9B47-60F0DDEA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7CAE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7CAE7"/>
                </a:solidFill>
                <a:latin typeface="Arial"/>
                <a:ea typeface="Arial"/>
                <a:cs typeface="Arial"/>
              </a:rPr>
              <a:t>QORGAU   /   КЕЙС 3   /   06.10.2026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8BB6F-4AC6-4F22-94A0-76BBA2FF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A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AE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72D55-0741-4A4D-B90F-04A4CC48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Qorgau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B6894-73CD-4626-B479-CE532E7C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DDE8F9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DDE8F9"/>
                </a:solidFill>
                <a:latin typeface="Arial"/>
                <a:ea typeface="Arial"/>
                <a:cs typeface="Arial"/>
              </a:rPr>
              <a:t>Локальный прокторинг</a:t>
            </a:r>
          </a:p>
          <a:p xmlns:a="http://schemas.openxmlformats.org/drawingml/2006/main">
            <a:pPr>
              <a:defRPr sz="3450" b="0">
                <a:solidFill>
                  <a:srgbClr val="DDE8F9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DDE8F9"/>
                </a:solidFill>
                <a:latin typeface="Arial"/>
                <a:ea typeface="Arial"/>
                <a:cs typeface="Arial"/>
              </a:rPr>
              <a:t>для компьютерной аудитории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FA5EF7-F676-405C-89EA-413EED25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8EDAC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8EDAC7"/>
                </a:solidFill>
                <a:latin typeface="Arial"/>
                <a:ea typeface="Arial"/>
                <a:cs typeface="Arial"/>
              </a:rPr>
              <a:t>Готовый EXE · собственный сервер · решение преподавателя</a:t>
            </a:r>
          </a:p>
        </p:txBody>
      </p:sp>
    </p:spTree>
    <p:extLst>
      <p:ext uri="{BB962C8B-B14F-4D97-AF65-F5344CB8AC3E}">
        <p14:creationId xmlns:p14="http://schemas.microsoft.com/office/powerpoint/2010/main" val="8275456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0F60B-84E4-40C0-8CE0-E667CF04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A4B"/>
                </a:solidFill>
                <a:latin typeface="Arial"/>
                <a:ea typeface="Arial"/>
                <a:cs typeface="Arial"/>
              </a:rPr>
              <a:t>Задача аудитории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DEF65-4CB9-48CC-8AAD-4F130E0D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QORGAU   /   КЕЙС 3   /   06.10.2026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7A83F-A0C3-4DE0-B56C-4FDFBE64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E8DE7-AADE-4A10-A79A-6AF7BA57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1 преподаватель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1F925-C47A-4337-AB5D-0CCF7F85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765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до 50 рабочих мест — целевой сценарий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DB613-CFC5-4ECE-A550-05B78AB7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38600"/>
            <a:ext cx="10477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Тест остаётся в привычной системе.</a:t>
            </a:r>
          </a:p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Подключение готовится один раз на аудиторию.</a:t>
            </a:r>
          </a:p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Преподаватель разбирает события с видеоконтекстом.</a:t>
            </a:r>
          </a:p>
        </p:txBody>
      </p:sp>
    </p:spTree>
    <p:extLst>
      <p:ext uri="{BB962C8B-B14F-4D97-AF65-F5344CB8AC3E}">
        <p14:creationId xmlns:p14="http://schemas.microsoft.com/office/powerpoint/2010/main" val="11146733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46914-E5C1-46C9-BBE9-D7CE2822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A4B"/>
                </a:solidFill>
                <a:latin typeface="Arial"/>
                <a:ea typeface="Arial"/>
                <a:cs typeface="Arial"/>
              </a:rPr>
              <a:t>Подключение и начало экзамена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2DDC2-678F-4FB3-904C-0A120879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QORGAU   /   КЕЙС 3   /   06.10.2026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06D2E-ECD1-4C95-B292-1AD58541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4D156-CABE-4A1D-90A3-7BD844C3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800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B58FD-632C-4BAA-9819-1B9ACEF4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0025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Преподаватель готовит EXE для аудитории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BFF857-4C1F-4321-B6F6-DEC5067C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800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7C827-FD51-453A-B066-8CE6C465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24175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Студент открывает файл — ПК появляется в кабинете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9054A-8A65-4EA0-842C-1C4E4C21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800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098A6-45A8-4A30-9FFD-9E2BC5EE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4810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Камера и личная калибровка: восемь позиций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835D9-E78B-4999-8E38-FF263753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800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3C9AC-1DDB-4EB7-98D7-2D69BED1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72025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Преподаватель начинает назначенный сеанс</a:t>
            </a:r>
          </a:p>
        </p:txBody>
      </p:sp>
    </p:spTree>
    <p:extLst>
      <p:ext uri="{BB962C8B-B14F-4D97-AF65-F5344CB8AC3E}">
        <p14:creationId xmlns:p14="http://schemas.microsoft.com/office/powerpoint/2010/main" val="6784426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94AC8-E29D-4BE9-9DB0-5A0D49C4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A4B"/>
                </a:solidFill>
                <a:latin typeface="Arial"/>
                <a:ea typeface="Arial"/>
                <a:cs typeface="Arial"/>
              </a:rPr>
              <a:t>Сигналы и решение преподавателя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03C5A-5AA5-4823-9C9E-18720226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QORGAU   /   КЕЙС 3   /   06.10.2026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8096C-0580-4210-97BE-03CC7460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87801-B897-47A5-A33F-57F918B3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5 секунд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A03DE-4742-45AC-8D82-909F61F3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19300"/>
            <a:ext cx="7277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Непрерывное отвлечение. Третий эпизод</a:t>
            </a:r>
          </a:p>
          <a:p xmlns:a="http://schemas.openxmlformats.org/drawingml/2006/main">
            <a:pPr>
              <a:defRPr sz="217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в одном направлении меняет состояние на LOCKED.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69468-6191-469C-95FF-F03C00D5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Телефон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3B9E0D-E271-4970-9522-00C43FAF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33750"/>
            <a:ext cx="7277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Два уверенных обнаружения за ≤0,6 с.</a:t>
            </a:r>
          </a:p>
          <a:p xmlns:a="http://schemas.openxmlformats.org/drawingml/2006/main">
            <a:pPr>
              <a:defRPr sz="217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Отдельный критический сигнал.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8B78D-DED6-4119-9358-BD249E17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796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67967"/>
                </a:solidFill>
                <a:latin typeface="Arial"/>
                <a:ea typeface="Arial"/>
                <a:cs typeface="Arial"/>
              </a:rPr>
              <a:t>Контекст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E348C-382C-4DA3-A29F-9670D29A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95825"/>
            <a:ext cx="727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Лица и отсутствие — на ручную проверку.</a:t>
            </a:r>
          </a:p>
          <a:p xmlns:a="http://schemas.openxmlformats.org/drawingml/2006/main">
            <a:pPr>
              <a:defRPr sz="217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Клип, решение и разрешение продолжить.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6BBAC-1E40-48F1-89A5-5FE639F6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LOCKED сейчас — состояние Qorgau; защита Windows ещё не принята.</a:t>
            </a:r>
          </a:p>
        </p:txBody>
      </p:sp>
    </p:spTree>
    <p:extLst>
      <p:ext uri="{BB962C8B-B14F-4D97-AF65-F5344CB8AC3E}">
        <p14:creationId xmlns:p14="http://schemas.microsoft.com/office/powerpoint/2010/main" val="743849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E35F3-B39A-4BD5-9B08-9BD7D717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A4B"/>
                </a:solidFill>
                <a:latin typeface="Arial"/>
                <a:ea typeface="Arial"/>
                <a:cs typeface="Arial"/>
              </a:rPr>
              <a:t>Обработка и хранение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D893A-2115-45B8-B8BD-74AD75C0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QORGAU   /   КЕЙС 3   /   06.10.2026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4966C-1CB0-456A-8DC8-3684CBB2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09497-1126-4947-A565-70D18C02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ПК студента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79094-B649-4F83-B97F-CB455E59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Локальные YOLO11n + MediaPipe · без записи звука</a:t>
            </a:r>
          </a:p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Сегменты на диске и очередь при потере сети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06CD5-0EFC-4F59-80A9-FA51A910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796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7967"/>
                </a:solidFill>
                <a:latin typeface="Arial"/>
                <a:ea typeface="Arial"/>
                <a:cs typeface="Arial"/>
              </a:rPr>
              <a:t>Собственный сервер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1C07D-9AEB-42E6-A83B-926E898B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События и клипы по HTTPS · решения и аудит</a:t>
            </a:r>
          </a:p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Видео: 7 дней, с продлением для разбора инцидента</a:t>
            </a:r>
          </a:p>
        </p:txBody>
      </p:sp>
    </p:spTree>
    <p:extLst>
      <p:ext uri="{BB962C8B-B14F-4D97-AF65-F5344CB8AC3E}">
        <p14:creationId xmlns:p14="http://schemas.microsoft.com/office/powerpoint/2010/main" val="2176489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8EAFA-997A-4CDF-BE06-40C13618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A4B"/>
                </a:solidFill>
                <a:latin typeface="Arial"/>
                <a:ea typeface="Arial"/>
                <a:cs typeface="Arial"/>
              </a:rPr>
              <a:t>Подтверждённые проверки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1F48C-E2C2-430C-87BD-22BCC1AF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QORGAU   /   КЕЙС 3   /   06.10.2026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812F0-7283-40A2-A26C-85EDD059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FBCB4-CE7B-4C98-A570-2CF9E8DB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285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76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FAB30-522F-421F-B6C5-11E655FC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28825"/>
            <a:ext cx="7591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автоматических тестов без пропусков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89290-A4DB-43F3-94CC-312C1F6E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285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EXE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CB58C-28DF-41FA-96CF-1514FF3C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52775"/>
            <a:ext cx="7591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модели и запись H.264 внутри приложения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58152-AED3-4140-B32B-E52AD76A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285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6796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67967"/>
                </a:solidFill>
                <a:latin typeface="Arial"/>
                <a:ea typeface="Arial"/>
                <a:cs typeface="Arial"/>
              </a:rPr>
              <a:t>332 мс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45758-4F36-419B-8046-83CA2827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76725"/>
            <a:ext cx="7591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p95 API: 50 клиентов и загрузка видео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4EB62-2A2B-4E6F-9EA7-7B31392F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816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50 клиентов · 121,9 с · 3074 запроса · 50 клипов · 0 ошибок.</a:t>
            </a:r>
          </a:p>
          <a:p xmlns:a="http://schemas.openxmlformats.org/drawingml/2006/main">
            <a:pPr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Длительный прогон и точность на людях оцениваются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17602297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E34C6-4656-4159-8078-BB3C48D2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A4B"/>
                </a:solidFill>
                <a:latin typeface="Arial"/>
                <a:ea typeface="Arial"/>
                <a:cs typeface="Arial"/>
              </a:rPr>
              <a:t>Приёмка перед внедрением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76440-8F9C-43D6-B9EF-52AF0709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QORGAU   /   КЕЙС 3   /   06.10.2026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2E7E5-127F-4E29-BD7D-4E0D51C9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F68B1-7565-4D3A-8A3A-B8DD2D38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0820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Один ПК Windows 11 Pro + камера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F39E2-8564-4673-9DE4-22C0CCA5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Подготовлен сценарий самостоятельной проверки жюри.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2A727-62B9-4107-A82B-6A8A3E94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96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967"/>
                </a:solidFill>
                <a:latin typeface="Arial"/>
                <a:ea typeface="Arial"/>
                <a:cs typeface="Arial"/>
              </a:rPr>
              <a:t>Осталось подтвердить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6126F-C724-433C-9F50-885CB9C6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10477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Защиту Windows и аварийный выход</a:t>
            </a:r>
          </a:p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Точность на людях, ресурсы и полную нагрузку</a:t>
            </a:r>
          </a:p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Пилот с преподавателем и три повторных прогона</a:t>
            </a:r>
          </a:p>
        </p:txBody>
      </p:sp>
    </p:spTree>
    <p:extLst>
      <p:ext uri="{BB962C8B-B14F-4D97-AF65-F5344CB8AC3E}">
        <p14:creationId xmlns:p14="http://schemas.microsoft.com/office/powerpoint/2010/main" val="15527696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2A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554E5-F7F6-4933-B2D0-FC74075C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Эффект и следующий шаг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EDB0B-19A6-4021-99D1-526CCE04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7CAE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7CAE7"/>
                </a:solidFill>
                <a:latin typeface="Arial"/>
                <a:ea typeface="Arial"/>
                <a:cs typeface="Arial"/>
              </a:rPr>
              <a:t>QORGAU   /   КЕЙС 3   /   06.10.2026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F4F5B-C010-4479-BEFC-9F612015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A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AE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AEB5B-D7B1-4220-A9CC-118862EF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8EDAC7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8EDAC7"/>
                </a:solidFill>
                <a:latin typeface="Arial"/>
                <a:ea typeface="Arial"/>
                <a:cs typeface="Arial"/>
              </a:rPr>
              <a:t>15,7 минуты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EDF41-404A-4D05-B60F-28C1A3E6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Пример экономии на вводе кода для 50 ПК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EB08D-7930-4763-99C1-1C3EF16E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7CA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7CAE7"/>
                </a:solidFill>
                <a:latin typeface="Arial"/>
                <a:ea typeface="Arial"/>
                <a:cs typeface="Arial"/>
              </a:rPr>
              <a:t>Предположения: 20 с на код, 60 с на подготовку пакета.</a:t>
            </a:r>
          </a:p>
          <a:p xmlns:a="http://schemas.openxmlformats.org/drawingml/2006/main">
            <a:pPr>
              <a:defRPr sz="2025" b="0">
                <a:solidFill>
                  <a:srgbClr val="B7CA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7CAE7"/>
                </a:solidFill>
                <a:latin typeface="Arial"/>
                <a:ea typeface="Arial"/>
                <a:cs typeface="Arial"/>
              </a:rPr>
              <a:t>(50 × 20 − 60) / 60 = 15,7 мин. Это гипотеза для пилота.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9BE8F-3054-462A-9069-4B76D110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Следующий шаг: проверка одного кабинета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 измерением ошибок и времени преподавателя.</a:t>
            </a:r>
          </a:p>
        </p:txBody>
      </p:sp>
    </p:spTree>
    <p:extLst>
      <p:ext uri="{BB962C8B-B14F-4D97-AF65-F5344CB8AC3E}">
        <p14:creationId xmlns:p14="http://schemas.microsoft.com/office/powerpoint/2010/main" val="100999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2026-10-05T22:07:17.5920000Z</dcterms:created>
  <dcterms:modified xsi:type="dcterms:W3CDTF">2026-10-05T22:07:17.5920000Z</dcterms:modified>
</coreProperties>
</file>